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6858000" cx="12192000"/>
  <p:notesSz cx="6858000" cy="9144000"/>
  <p:embeddedFontLst>
    <p:embeddedFont>
      <p:font typeface="Urbanist Light"/>
      <p:regular r:id="rId46"/>
      <p:bold r:id="rId47"/>
      <p:italic r:id="rId48"/>
      <p:boldItalic r:id="rId49"/>
    </p:embeddedFont>
    <p:embeddedFont>
      <p:font typeface="Urbanist Medium"/>
      <p:regular r:id="rId50"/>
      <p:bold r:id="rId51"/>
      <p:italic r:id="rId52"/>
      <p:boldItalic r:id="rId53"/>
    </p:embeddedFont>
    <p:embeddedFont>
      <p:font typeface="Urbanist SemiBold"/>
      <p:regular r:id="rId54"/>
      <p:bold r:id="rId55"/>
      <p:italic r:id="rId56"/>
      <p:boldItalic r:id="rId57"/>
    </p:embeddedFont>
    <p:embeddedFont>
      <p:font typeface="Urbanist"/>
      <p:regular r:id="rId58"/>
      <p:bold r:id="rId59"/>
      <p:italic r:id="rId60"/>
      <p:boldItalic r:id="rId61"/>
    </p:embeddedFont>
    <p:embeddedFont>
      <p:font typeface="Scope One"/>
      <p:regular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63" roundtripDataSignature="AMtx7mg/7XKfjn207/Gbf2wIgJOMU6nN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UrbanistLight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UrbanistLight-italic.fntdata"/><Relationship Id="rId47" Type="http://schemas.openxmlformats.org/officeDocument/2006/relationships/font" Target="fonts/UrbanistLight-bold.fntdata"/><Relationship Id="rId49" Type="http://schemas.openxmlformats.org/officeDocument/2006/relationships/font" Target="fonts/Urbanist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ScopeOne-regular.fntdata"/><Relationship Id="rId61" Type="http://schemas.openxmlformats.org/officeDocument/2006/relationships/font" Target="fonts/Urbanist-boldItalic.fntdata"/><Relationship Id="rId20" Type="http://schemas.openxmlformats.org/officeDocument/2006/relationships/slide" Target="slides/slide15.xml"/><Relationship Id="rId63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Urbanist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UrbanistMedium-bold.fntdata"/><Relationship Id="rId50" Type="http://schemas.openxmlformats.org/officeDocument/2006/relationships/font" Target="fonts/UrbanistMedium-regular.fntdata"/><Relationship Id="rId53" Type="http://schemas.openxmlformats.org/officeDocument/2006/relationships/font" Target="fonts/UrbanistMedium-boldItalic.fntdata"/><Relationship Id="rId52" Type="http://schemas.openxmlformats.org/officeDocument/2006/relationships/font" Target="fonts/UrbanistMedium-italic.fntdata"/><Relationship Id="rId11" Type="http://schemas.openxmlformats.org/officeDocument/2006/relationships/slide" Target="slides/slide6.xml"/><Relationship Id="rId55" Type="http://schemas.openxmlformats.org/officeDocument/2006/relationships/font" Target="fonts/UrbanistSemiBold-bold.fntdata"/><Relationship Id="rId10" Type="http://schemas.openxmlformats.org/officeDocument/2006/relationships/slide" Target="slides/slide5.xml"/><Relationship Id="rId54" Type="http://schemas.openxmlformats.org/officeDocument/2006/relationships/font" Target="fonts/UrbanistSemiBold-regular.fntdata"/><Relationship Id="rId13" Type="http://schemas.openxmlformats.org/officeDocument/2006/relationships/slide" Target="slides/slide8.xml"/><Relationship Id="rId57" Type="http://schemas.openxmlformats.org/officeDocument/2006/relationships/font" Target="fonts/UrbanistSemiBold-boldItalic.fntdata"/><Relationship Id="rId12" Type="http://schemas.openxmlformats.org/officeDocument/2006/relationships/slide" Target="slides/slide7.xml"/><Relationship Id="rId56" Type="http://schemas.openxmlformats.org/officeDocument/2006/relationships/font" Target="fonts/UrbanistSemiBold-italic.fntdata"/><Relationship Id="rId15" Type="http://schemas.openxmlformats.org/officeDocument/2006/relationships/slide" Target="slides/slide10.xml"/><Relationship Id="rId59" Type="http://schemas.openxmlformats.org/officeDocument/2006/relationships/font" Target="fonts/Urbanist-bold.fntdata"/><Relationship Id="rId14" Type="http://schemas.openxmlformats.org/officeDocument/2006/relationships/slide" Target="slides/slide9.xml"/><Relationship Id="rId58" Type="http://schemas.openxmlformats.org/officeDocument/2006/relationships/font" Target="fonts/Urbanist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36aa2dfe0_0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936aa2dfe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g3936aa2dfe0_0_7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2270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6396c8ac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d6396c8ac8_0_0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3d6396c8ac8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6396c8ac8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d6396c8ac8_0_6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d6396c8ac8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6396c8ac8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d6396c8ac8_0_12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3d6396c8ac8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6396c8ac8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d6396c8ac8_0_18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d6396c8ac8_0_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6396c8ac8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d6396c8ac8_0_24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3d6396c8ac8_0_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6396c8ac8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d6396c8ac8_0_30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d6396c8ac8_0_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6396c8ac8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d6396c8ac8_0_36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d6396c8ac8_0_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6396c8ac8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d6396c8ac8_0_42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d6396c8ac8_0_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6396c8ac8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d6396c8ac8_0_48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d6396c8ac8_0_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6396c8ac8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d6396c8ac8_0_60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d6396c8ac8_0_6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6396c8ac8_0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d6396c8ac8_0_66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d6396c8ac8_0_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6396c8ac8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d6396c8ac8_0_72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d6396c8ac8_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6396c8ac8_0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d6396c8ac8_0_78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d6396c8ac8_0_7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6396c8ac8_0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d6396c8ac8_0_84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d6396c8ac8_0_8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6396c8ac8_0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d6396c8ac8_0_90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d6396c8ac8_0_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6396c8ac8_0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d6396c8ac8_0_96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3d6396c8ac8_0_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6396c8ac8_0_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d6396c8ac8_0_102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g3d6396c8ac8_0_10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6396c8ac8_0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d6396c8ac8_0_108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d6396c8ac8_0_10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6396c8ac8_0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d6396c8ac8_0_114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g3d6396c8ac8_0_1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6396c8ac8_0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d6396c8ac8_0_120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3d6396c8ac8_0_1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6396c8ac8_0_1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d6396c8ac8_0_126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d6396c8ac8_0_1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6396c8ac8_0_1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d6396c8ac8_0_132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d6396c8ac8_0_1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6396c8ac8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d6396c8ac8_0_138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g3d6396c8ac8_0_1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6396c8ac8_0_1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d6396c8ac8_0_144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g3d6396c8ac8_0_1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6396c8ac8_0_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d6396c8ac8_0_150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g3d6396c8ac8_0_1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6396c8ac8_0_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d6396c8ac8_0_156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g3d6396c8ac8_0_15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6396c8ac8_0_1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d6396c8ac8_0_162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3d6396c8ac8_0_1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6396c8ac8_0_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d6396c8ac8_0_168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g3d6396c8ac8_0_1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6396c8ac8_0_1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d6396c8ac8_0_174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g3d6396c8ac8_0_17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6396c8ac8_0_1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d6396c8ac8_0_180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g3d6396c8ac8_0_18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6396c8ac8_0_1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d6396c8ac8_0_186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g3d6396c8ac8_0_1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6396c8ac8_0_1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d6396c8ac8_0_192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g3d6396c8ac8_0_19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6396c8ac8_0_1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d6396c8ac8_0_198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g3d6396c8ac8_0_19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6396c8ac8_0_2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d6396c8ac8_0_204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g3d6396c8ac8_0_20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6396c8ac8_0_2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d6396c8ac8_0_210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g3d6396c8ac8_0_2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6396c8ac8_0_2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d6396c8ac8_0_216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g3d6396c8ac8_0_2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6396c8ac8_0_2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d6396c8ac8_0_222:notes"/>
          <p:cNvSpPr txBox="1"/>
          <p:nvPr>
            <p:ph idx="1" type="body"/>
          </p:nvPr>
        </p:nvSpPr>
        <p:spPr>
          <a:xfrm>
            <a:off x="685800" y="4343400"/>
            <a:ext cx="54864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d6396c8ac8_0_2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g3936aa2dfe0_0_84"/>
          <p:cNvPicPr preferRelativeResize="0"/>
          <p:nvPr/>
        </p:nvPicPr>
        <p:blipFill rotWithShape="1">
          <a:blip r:embed="rId2">
            <a:alphaModFix/>
          </a:blip>
          <a:srcRect b="2874" l="0" r="0" t="2874"/>
          <a:stretch/>
        </p:blipFill>
        <p:spPr>
          <a:xfrm>
            <a:off x="6152018" y="-67236"/>
            <a:ext cx="4932282" cy="697308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g3936aa2dfe0_0_84"/>
          <p:cNvSpPr/>
          <p:nvPr/>
        </p:nvSpPr>
        <p:spPr>
          <a:xfrm>
            <a:off x="11057641" y="-94129"/>
            <a:ext cx="1268100" cy="6973200"/>
          </a:xfrm>
          <a:prstGeom prst="rect">
            <a:avLst/>
          </a:prstGeom>
          <a:solidFill>
            <a:srgbClr val="FC6800"/>
          </a:solidFill>
          <a:ln>
            <a:noFill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g3936aa2dfe0_0_84"/>
          <p:cNvSpPr txBox="1"/>
          <p:nvPr>
            <p:ph idx="1" type="body"/>
          </p:nvPr>
        </p:nvSpPr>
        <p:spPr>
          <a:xfrm>
            <a:off x="349384" y="4415481"/>
            <a:ext cx="542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g3936aa2dfe0_0_84"/>
          <p:cNvSpPr txBox="1"/>
          <p:nvPr>
            <p:ph idx="2" type="body"/>
          </p:nvPr>
        </p:nvSpPr>
        <p:spPr>
          <a:xfrm>
            <a:off x="0" y="5532754"/>
            <a:ext cx="12192000" cy="13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g3936aa2dfe0_0_84"/>
          <p:cNvSpPr txBox="1"/>
          <p:nvPr>
            <p:ph idx="3" type="body"/>
          </p:nvPr>
        </p:nvSpPr>
        <p:spPr>
          <a:xfrm>
            <a:off x="349384" y="884321"/>
            <a:ext cx="5421300" cy="25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g3936aa2dfe0_0_84"/>
          <p:cNvSpPr txBox="1"/>
          <p:nvPr>
            <p:ph idx="4" type="body"/>
          </p:nvPr>
        </p:nvSpPr>
        <p:spPr>
          <a:xfrm>
            <a:off x="349384" y="4927101"/>
            <a:ext cx="54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0" name="Google Shape;20;g3936aa2dfe0_0_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8959" y="145901"/>
            <a:ext cx="601912" cy="229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Overview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36aa2dfe0_0_92"/>
          <p:cNvSpPr txBox="1"/>
          <p:nvPr>
            <p:ph idx="1" type="body"/>
          </p:nvPr>
        </p:nvSpPr>
        <p:spPr>
          <a:xfrm>
            <a:off x="280088" y="743485"/>
            <a:ext cx="71103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E46102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E4610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g3936aa2dfe0_0_92"/>
          <p:cNvSpPr txBox="1"/>
          <p:nvPr>
            <p:ph idx="2" type="body"/>
          </p:nvPr>
        </p:nvSpPr>
        <p:spPr>
          <a:xfrm>
            <a:off x="272086" y="1563299"/>
            <a:ext cx="7117800" cy="36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7955" lvl="0" marL="457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Noto Sans Symbols"/>
              <a:buChar char="▪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4610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4046" lvl="2" marL="1371600" marR="0" rtl="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E46102"/>
              </a:buClr>
              <a:buSzPts val="2133"/>
              <a:buFont typeface="Noto Sans Symbols"/>
              <a:buChar char="▪"/>
              <a:defRPr b="0" i="0" sz="21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7155" lvl="3" marL="1828800" marR="0" rtl="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D95E00"/>
              </a:buClr>
              <a:buSzPts val="1867"/>
              <a:buFont typeface="NTR"/>
              <a:buChar char="&gt;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D95E00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rgbClr val="D95E00"/>
              </a:buClr>
              <a:buSzPts val="1467"/>
              <a:buFont typeface="NTR"/>
              <a:buNone/>
              <a:defRPr b="0" i="0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rgbClr val="D95E00"/>
              </a:buClr>
              <a:buSzPts val="1333"/>
              <a:buFont typeface="Noto Sans Symbols"/>
              <a:buNone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g3936aa2dfe0_0_92"/>
          <p:cNvSpPr txBox="1"/>
          <p:nvPr>
            <p:ph idx="3" type="body"/>
          </p:nvPr>
        </p:nvSpPr>
        <p:spPr>
          <a:xfrm>
            <a:off x="0" y="5511800"/>
            <a:ext cx="12192000" cy="13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5" name="Google Shape;25;g3936aa2dfe0_0_92"/>
          <p:cNvCxnSpPr/>
          <p:nvPr/>
        </p:nvCxnSpPr>
        <p:spPr>
          <a:xfrm>
            <a:off x="272085" y="512494"/>
            <a:ext cx="26748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g3936aa2dfe0_0_92"/>
          <p:cNvCxnSpPr/>
          <p:nvPr/>
        </p:nvCxnSpPr>
        <p:spPr>
          <a:xfrm>
            <a:off x="3376635" y="512494"/>
            <a:ext cx="84855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36aa2dfe0_0_92"/>
          <p:cNvSpPr/>
          <p:nvPr>
            <p:ph idx="4" type="pic"/>
          </p:nvPr>
        </p:nvSpPr>
        <p:spPr>
          <a:xfrm>
            <a:off x="7497763" y="826080"/>
            <a:ext cx="4430700" cy="4677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or End Slide">
  <p:cSld name="Section Header or End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936aa2dfe0_0_99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rgbClr val="E461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30;g3936aa2dfe0_0_99"/>
          <p:cNvCxnSpPr/>
          <p:nvPr/>
        </p:nvCxnSpPr>
        <p:spPr>
          <a:xfrm>
            <a:off x="272085" y="513091"/>
            <a:ext cx="26748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g3936aa2dfe0_0_99"/>
          <p:cNvCxnSpPr/>
          <p:nvPr/>
        </p:nvCxnSpPr>
        <p:spPr>
          <a:xfrm>
            <a:off x="3376635" y="513091"/>
            <a:ext cx="84855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g3936aa2dfe0_0_99"/>
          <p:cNvSpPr txBox="1"/>
          <p:nvPr>
            <p:ph idx="1" type="body"/>
          </p:nvPr>
        </p:nvSpPr>
        <p:spPr>
          <a:xfrm>
            <a:off x="272085" y="863428"/>
            <a:ext cx="7126200" cy="12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g3936aa2dfe0_0_99"/>
          <p:cNvSpPr txBox="1"/>
          <p:nvPr>
            <p:ph idx="2" type="body"/>
          </p:nvPr>
        </p:nvSpPr>
        <p:spPr>
          <a:xfrm>
            <a:off x="0" y="5511801"/>
            <a:ext cx="12192000" cy="14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4" name="Google Shape;34;g3936aa2dfe0_0_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8433" y="198708"/>
            <a:ext cx="556190" cy="21859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g3936aa2dfe0_0_99"/>
          <p:cNvSpPr/>
          <p:nvPr>
            <p:ph idx="3" type="pic"/>
          </p:nvPr>
        </p:nvSpPr>
        <p:spPr>
          <a:xfrm>
            <a:off x="7497763" y="863428"/>
            <a:ext cx="4430700" cy="464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g3936aa2dfe0_0_107"/>
          <p:cNvPicPr preferRelativeResize="0"/>
          <p:nvPr/>
        </p:nvPicPr>
        <p:blipFill rotWithShape="1">
          <a:blip r:embed="rId2">
            <a:alphaModFix/>
          </a:blip>
          <a:srcRect b="8617" l="0" r="0" t="0"/>
          <a:stretch/>
        </p:blipFill>
        <p:spPr>
          <a:xfrm>
            <a:off x="-939338" y="0"/>
            <a:ext cx="11533968" cy="6858000"/>
          </a:xfrm>
          <a:prstGeom prst="rect">
            <a:avLst/>
          </a:prstGeom>
          <a:noFill/>
          <a:ln cap="flat" cmpd="sng" w="9525">
            <a:solidFill>
              <a:srgbClr val="EF6F2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" name="Google Shape;38;g3936aa2dfe0_0_107"/>
          <p:cNvSpPr txBox="1"/>
          <p:nvPr>
            <p:ph idx="1" type="body"/>
          </p:nvPr>
        </p:nvSpPr>
        <p:spPr>
          <a:xfrm>
            <a:off x="4888318" y="4369315"/>
            <a:ext cx="7008000" cy="400200"/>
          </a:xfrm>
          <a:prstGeom prst="rect">
            <a:avLst/>
          </a:prstGeom>
          <a:solidFill>
            <a:schemeClr val="lt1">
              <a:alpha val="73725"/>
            </a:schemeClr>
          </a:solidFill>
          <a:ln>
            <a:noFill/>
          </a:ln>
        </p:spPr>
        <p:txBody>
          <a:bodyPr anchorCtr="0" anchor="t" bIns="45700" lIns="274300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9" name="Google Shape;39;g3936aa2dfe0_0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85722" y="145901"/>
            <a:ext cx="585082" cy="22994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3936aa2dfe0_0_107"/>
          <p:cNvSpPr txBox="1"/>
          <p:nvPr>
            <p:ph idx="2" type="body"/>
          </p:nvPr>
        </p:nvSpPr>
        <p:spPr>
          <a:xfrm>
            <a:off x="4888318" y="1508037"/>
            <a:ext cx="7008000" cy="272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91425" lIns="274300" spcFirstLastPara="1" rIns="91425" wrap="square" tIns="91425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Arial"/>
              <a:buNone/>
              <a:defRPr b="1" i="0" sz="5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g3936aa2dfe0_0_107"/>
          <p:cNvSpPr txBox="1"/>
          <p:nvPr>
            <p:ph idx="3" type="body"/>
          </p:nvPr>
        </p:nvSpPr>
        <p:spPr>
          <a:xfrm>
            <a:off x="4888318" y="4880935"/>
            <a:ext cx="7008000" cy="430800"/>
          </a:xfrm>
          <a:prstGeom prst="rect">
            <a:avLst/>
          </a:prstGeom>
          <a:solidFill>
            <a:schemeClr val="lt1">
              <a:alpha val="73725"/>
            </a:schemeClr>
          </a:solidFill>
          <a:ln>
            <a:noFill/>
          </a:ln>
        </p:spPr>
        <p:txBody>
          <a:bodyPr anchorCtr="0" anchor="t" bIns="45700" lIns="274300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g3936aa2dfe0_0_113"/>
          <p:cNvCxnSpPr/>
          <p:nvPr/>
        </p:nvCxnSpPr>
        <p:spPr>
          <a:xfrm>
            <a:off x="272085" y="513092"/>
            <a:ext cx="2674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" name="Google Shape;44;g3936aa2dfe0_0_113"/>
          <p:cNvCxnSpPr/>
          <p:nvPr/>
        </p:nvCxnSpPr>
        <p:spPr>
          <a:xfrm>
            <a:off x="3376635" y="513092"/>
            <a:ext cx="8485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36aa2dfe0_0_113"/>
          <p:cNvSpPr txBox="1"/>
          <p:nvPr>
            <p:ph idx="1" type="body"/>
          </p:nvPr>
        </p:nvSpPr>
        <p:spPr>
          <a:xfrm>
            <a:off x="0" y="5511801"/>
            <a:ext cx="12192000" cy="14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g3936aa2dfe0_0_113"/>
          <p:cNvSpPr txBox="1"/>
          <p:nvPr>
            <p:ph idx="2" type="body"/>
          </p:nvPr>
        </p:nvSpPr>
        <p:spPr>
          <a:xfrm>
            <a:off x="280088" y="743485"/>
            <a:ext cx="71103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E46102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E4610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g3936aa2dfe0_0_113"/>
          <p:cNvSpPr txBox="1"/>
          <p:nvPr>
            <p:ph idx="3" type="body"/>
          </p:nvPr>
        </p:nvSpPr>
        <p:spPr>
          <a:xfrm>
            <a:off x="272086" y="1563299"/>
            <a:ext cx="7117800" cy="36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7955" lvl="0" marL="457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Noto Sans Symbols"/>
              <a:buChar char="▪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4610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4046" lvl="2" marL="1371600" marR="0" rtl="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E46102"/>
              </a:buClr>
              <a:buSzPts val="2133"/>
              <a:buFont typeface="Noto Sans Symbols"/>
              <a:buChar char="▪"/>
              <a:defRPr b="0" i="0" sz="21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7155" lvl="3" marL="1828800" marR="0" rtl="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D95E00"/>
              </a:buClr>
              <a:buSzPts val="1867"/>
              <a:buFont typeface="NTR"/>
              <a:buChar char="&gt;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D95E00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rgbClr val="D95E00"/>
              </a:buClr>
              <a:buSzPts val="1467"/>
              <a:buFont typeface="NTR"/>
              <a:buNone/>
              <a:defRPr b="0" i="0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rgbClr val="D95E00"/>
              </a:buClr>
              <a:buSzPts val="1333"/>
              <a:buFont typeface="Noto Sans Symbols"/>
              <a:buNone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g3936aa2dfe0_0_113"/>
          <p:cNvSpPr/>
          <p:nvPr>
            <p:ph idx="4" type="pic"/>
          </p:nvPr>
        </p:nvSpPr>
        <p:spPr>
          <a:xfrm>
            <a:off x="7497763" y="792828"/>
            <a:ext cx="4430700" cy="4710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Page Content">
  <p:cSld name="Full-Page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Google Shape;50;g3936aa2dfe0_0_120"/>
          <p:cNvCxnSpPr/>
          <p:nvPr/>
        </p:nvCxnSpPr>
        <p:spPr>
          <a:xfrm>
            <a:off x="272085" y="513092"/>
            <a:ext cx="2674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" name="Google Shape;51;g3936aa2dfe0_0_120"/>
          <p:cNvCxnSpPr/>
          <p:nvPr/>
        </p:nvCxnSpPr>
        <p:spPr>
          <a:xfrm>
            <a:off x="3376635" y="513092"/>
            <a:ext cx="8485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g3936aa2dfe0_0_120"/>
          <p:cNvSpPr txBox="1"/>
          <p:nvPr>
            <p:ph idx="1" type="body"/>
          </p:nvPr>
        </p:nvSpPr>
        <p:spPr>
          <a:xfrm>
            <a:off x="0" y="5511801"/>
            <a:ext cx="12192000" cy="14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g3936aa2dfe0_0_120"/>
          <p:cNvSpPr txBox="1"/>
          <p:nvPr>
            <p:ph idx="2" type="body"/>
          </p:nvPr>
        </p:nvSpPr>
        <p:spPr>
          <a:xfrm>
            <a:off x="272085" y="863428"/>
            <a:ext cx="6926700" cy="4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None/>
              <a:defRPr b="0" i="1" sz="42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3936aa2dfe0_0_120"/>
          <p:cNvSpPr/>
          <p:nvPr>
            <p:ph idx="3" type="pic"/>
          </p:nvPr>
        </p:nvSpPr>
        <p:spPr>
          <a:xfrm>
            <a:off x="7497763" y="863428"/>
            <a:ext cx="4364400" cy="464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g3936aa2dfe0_0_126"/>
          <p:cNvCxnSpPr/>
          <p:nvPr/>
        </p:nvCxnSpPr>
        <p:spPr>
          <a:xfrm>
            <a:off x="272085" y="513092"/>
            <a:ext cx="2674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g3936aa2dfe0_0_126"/>
          <p:cNvCxnSpPr/>
          <p:nvPr/>
        </p:nvCxnSpPr>
        <p:spPr>
          <a:xfrm>
            <a:off x="3376635" y="513092"/>
            <a:ext cx="8485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g3936aa2dfe0_0_126"/>
          <p:cNvSpPr txBox="1"/>
          <p:nvPr>
            <p:ph idx="1" type="body"/>
          </p:nvPr>
        </p:nvSpPr>
        <p:spPr>
          <a:xfrm>
            <a:off x="0" y="5511801"/>
            <a:ext cx="12192000" cy="14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g3936aa2dfe0_0_126"/>
          <p:cNvSpPr txBox="1"/>
          <p:nvPr>
            <p:ph idx="2" type="body"/>
          </p:nvPr>
        </p:nvSpPr>
        <p:spPr>
          <a:xfrm>
            <a:off x="272084" y="863428"/>
            <a:ext cx="6962100" cy="46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None/>
              <a:defRPr b="0" i="1" sz="42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g3936aa2dfe0_0_126"/>
          <p:cNvSpPr/>
          <p:nvPr>
            <p:ph idx="3" type="pic"/>
          </p:nvPr>
        </p:nvSpPr>
        <p:spPr>
          <a:xfrm>
            <a:off x="7497763" y="863428"/>
            <a:ext cx="4430700" cy="464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g3936aa2dfe0_0_132"/>
          <p:cNvCxnSpPr/>
          <p:nvPr/>
        </p:nvCxnSpPr>
        <p:spPr>
          <a:xfrm>
            <a:off x="272085" y="513092"/>
            <a:ext cx="2674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g3936aa2dfe0_0_132"/>
          <p:cNvCxnSpPr/>
          <p:nvPr/>
        </p:nvCxnSpPr>
        <p:spPr>
          <a:xfrm>
            <a:off x="3376635" y="513092"/>
            <a:ext cx="8485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g3936aa2dfe0_0_132"/>
          <p:cNvSpPr txBox="1"/>
          <p:nvPr>
            <p:ph idx="1" type="body"/>
          </p:nvPr>
        </p:nvSpPr>
        <p:spPr>
          <a:xfrm>
            <a:off x="0" y="5511801"/>
            <a:ext cx="12192000" cy="14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g3936aa2dfe0_0_132"/>
          <p:cNvSpPr txBox="1"/>
          <p:nvPr>
            <p:ph idx="2" type="body"/>
          </p:nvPr>
        </p:nvSpPr>
        <p:spPr>
          <a:xfrm>
            <a:off x="264584" y="862676"/>
            <a:ext cx="34713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accent1"/>
              </a:buClr>
              <a:buSzPts val="4267"/>
              <a:buFont typeface="Arial"/>
              <a:buNone/>
              <a:defRPr b="1" i="0" sz="4267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g3936aa2dfe0_0_132"/>
          <p:cNvSpPr txBox="1"/>
          <p:nvPr>
            <p:ph idx="3" type="body"/>
          </p:nvPr>
        </p:nvSpPr>
        <p:spPr>
          <a:xfrm>
            <a:off x="264584" y="1873340"/>
            <a:ext cx="3471300" cy="36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g3936aa2dfe0_0_132"/>
          <p:cNvSpPr txBox="1"/>
          <p:nvPr>
            <p:ph idx="4" type="body"/>
          </p:nvPr>
        </p:nvSpPr>
        <p:spPr>
          <a:xfrm>
            <a:off x="3888317" y="862676"/>
            <a:ext cx="34713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accent1"/>
              </a:buClr>
              <a:buSzPts val="4267"/>
              <a:buFont typeface="Arial"/>
              <a:buNone/>
              <a:defRPr b="1" i="0" sz="4267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g3936aa2dfe0_0_132"/>
          <p:cNvSpPr txBox="1"/>
          <p:nvPr>
            <p:ph idx="5" type="body"/>
          </p:nvPr>
        </p:nvSpPr>
        <p:spPr>
          <a:xfrm>
            <a:off x="3888317" y="1873340"/>
            <a:ext cx="3471300" cy="36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g3936aa2dfe0_0_132"/>
          <p:cNvSpPr/>
          <p:nvPr>
            <p:ph idx="6" type="pic"/>
          </p:nvPr>
        </p:nvSpPr>
        <p:spPr>
          <a:xfrm>
            <a:off x="7497763" y="863428"/>
            <a:ext cx="4430700" cy="464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" showMasterSp="0">
  <p:cSld name="Transition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g3936aa2dfe0_0_141"/>
          <p:cNvCxnSpPr/>
          <p:nvPr/>
        </p:nvCxnSpPr>
        <p:spPr>
          <a:xfrm>
            <a:off x="272085" y="513091"/>
            <a:ext cx="26748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g3936aa2dfe0_0_141"/>
          <p:cNvCxnSpPr/>
          <p:nvPr/>
        </p:nvCxnSpPr>
        <p:spPr>
          <a:xfrm>
            <a:off x="3376635" y="513091"/>
            <a:ext cx="84855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g3936aa2dfe0_0_141"/>
          <p:cNvSpPr txBox="1"/>
          <p:nvPr>
            <p:ph idx="1" type="body"/>
          </p:nvPr>
        </p:nvSpPr>
        <p:spPr>
          <a:xfrm>
            <a:off x="0" y="5511801"/>
            <a:ext cx="12192000" cy="14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g3936aa2dfe0_0_141"/>
          <p:cNvSpPr txBox="1"/>
          <p:nvPr>
            <p:ph idx="2" type="body"/>
          </p:nvPr>
        </p:nvSpPr>
        <p:spPr>
          <a:xfrm>
            <a:off x="310224" y="863428"/>
            <a:ext cx="6827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1" i="0" sz="5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6" lvl="1" marL="914400" marR="0" rtl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5" lvl="3" marL="1828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5" lvl="4" marL="22860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5" name="Google Shape;75;g3936aa2dfe0_0_1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8433" y="198708"/>
            <a:ext cx="556190" cy="21859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936aa2dfe0_0_141"/>
          <p:cNvSpPr/>
          <p:nvPr>
            <p:ph idx="3" type="pic"/>
          </p:nvPr>
        </p:nvSpPr>
        <p:spPr>
          <a:xfrm>
            <a:off x="7497763" y="863428"/>
            <a:ext cx="4430700" cy="464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36aa2dfe0_0_80"/>
          <p:cNvSpPr txBox="1"/>
          <p:nvPr/>
        </p:nvSpPr>
        <p:spPr>
          <a:xfrm>
            <a:off x="11476827" y="257543"/>
            <a:ext cx="1241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|  </a:t>
            </a:r>
            <a:fld id="{00000000-1234-1234-1234-123412341234}" type="slidenum">
              <a:rPr b="0" i="0" lang="en-US" sz="11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g3936aa2dfe0_0_8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58433" y="198708"/>
            <a:ext cx="556190" cy="218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g3936aa2dfe0_0_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18566" y="304811"/>
            <a:ext cx="2258263" cy="13495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36aa2dfe0_0_74"/>
          <p:cNvSpPr txBox="1"/>
          <p:nvPr>
            <p:ph type="title"/>
          </p:nvPr>
        </p:nvSpPr>
        <p:spPr>
          <a:xfrm>
            <a:off x="434425" y="1050050"/>
            <a:ext cx="5251200" cy="3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</a:pPr>
            <a:r>
              <a:rPr lang="en-US" sz="4800">
                <a:solidFill>
                  <a:schemeClr val="accent1"/>
                </a:solidFill>
                <a:latin typeface="Scope One"/>
                <a:ea typeface="Scope One"/>
                <a:cs typeface="Scope One"/>
                <a:sym typeface="Scope One"/>
              </a:rPr>
              <a:t>Workplace Communication: Bringing it all Together</a:t>
            </a:r>
            <a:endParaRPr b="0" i="0" sz="4000" u="none" cap="none" strike="noStrike">
              <a:solidFill>
                <a:schemeClr val="accent1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  <p:sp>
        <p:nvSpPr>
          <p:cNvPr id="83" name="Google Shape;83;g3936aa2dfe0_0_74"/>
          <p:cNvSpPr txBox="1"/>
          <p:nvPr/>
        </p:nvSpPr>
        <p:spPr>
          <a:xfrm>
            <a:off x="349384" y="6429730"/>
            <a:ext cx="542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NCOM-207: Organizational Communication and the Deaf Employee</a:t>
            </a:r>
            <a:endParaRPr b="0" i="0" sz="1400" u="none" cap="none" strike="noStrike"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idx="2" type="body"/>
          </p:nvPr>
        </p:nvSpPr>
        <p:spPr>
          <a:xfrm>
            <a:off x="564425" y="1859075"/>
            <a:ext cx="10854300" cy="40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Pulling It All Together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Why This Is the Final Topic?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○"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Everything we studied this semester connects to one question: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“How can I communicate effectively as a Deaf professional in the workplace?”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90" name="Google Shape;90;p2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Final Topic: Workplace Communication</a:t>
            </a:r>
            <a:endParaRPr b="0" i="0" sz="48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6396c8ac8_0_0"/>
          <p:cNvSpPr txBox="1"/>
          <p:nvPr>
            <p:ph idx="2" type="body"/>
          </p:nvPr>
        </p:nvSpPr>
        <p:spPr>
          <a:xfrm>
            <a:off x="564425" y="1859075"/>
            <a:ext cx="9739500" cy="3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Workplace communication is not just: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Talking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Signing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Writing emails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It is how you navigate systems, people, power, and expectations.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97" name="Google Shape;97;g3d6396c8ac8_0_0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Workplace Communication</a:t>
            </a:r>
            <a:endParaRPr b="0" i="0" sz="48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6396c8ac8_0_6"/>
          <p:cNvSpPr txBox="1"/>
          <p:nvPr>
            <p:ph idx="2" type="body"/>
          </p:nvPr>
        </p:nvSpPr>
        <p:spPr>
          <a:xfrm>
            <a:off x="564425" y="1859075"/>
            <a:ext cx="9739500" cy="4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Today, we connect: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Job search communication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Managerial styles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SMART goals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ADA &amp; access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Conflict resolution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Self‑awareness and accountability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104" name="Google Shape;104;g3d6396c8ac8_0_6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Workplace Communication</a:t>
            </a:r>
            <a:endParaRPr b="0" i="0" sz="48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6396c8ac8_0_12"/>
          <p:cNvSpPr txBox="1"/>
          <p:nvPr>
            <p:ph idx="2" type="body"/>
          </p:nvPr>
        </p:nvSpPr>
        <p:spPr>
          <a:xfrm>
            <a:off x="280075" y="1506500"/>
            <a:ext cx="11149800" cy="51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The way you share information, advocate for access, build professional relationships, manage conflict, and contribute to an organization’s goals.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2800">
                <a:latin typeface="Urbanist Light"/>
                <a:ea typeface="Urbanist Light"/>
                <a:cs typeface="Urbanist Light"/>
                <a:sym typeface="Urbanist Light"/>
              </a:rPr>
              <a:t>This happens:</a:t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2800">
                <a:latin typeface="Urbanist Light"/>
                <a:ea typeface="Urbanist Light"/>
                <a:cs typeface="Urbanist Light"/>
                <a:sym typeface="Urbanist Light"/>
              </a:rPr>
              <a:t>Before you’re hired</a:t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2800">
                <a:latin typeface="Urbanist Light"/>
                <a:ea typeface="Urbanist Light"/>
                <a:cs typeface="Urbanist Light"/>
                <a:sym typeface="Urbanist Light"/>
              </a:rPr>
              <a:t>On your first day</a:t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2800">
                <a:latin typeface="Urbanist Light"/>
                <a:ea typeface="Urbanist Light"/>
                <a:cs typeface="Urbanist Light"/>
                <a:sym typeface="Urbanist Light"/>
              </a:rPr>
              <a:t>In meetings</a:t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2800">
                <a:latin typeface="Urbanist Light"/>
                <a:ea typeface="Urbanist Light"/>
                <a:cs typeface="Urbanist Light"/>
                <a:sym typeface="Urbanist Light"/>
              </a:rPr>
              <a:t>During feedback</a:t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2800">
                <a:latin typeface="Urbanist Light"/>
                <a:ea typeface="Urbanist Light"/>
                <a:cs typeface="Urbanist Light"/>
                <a:sym typeface="Urbanist Light"/>
              </a:rPr>
              <a:t>During conflict</a:t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2800">
                <a:latin typeface="Urbanist Light"/>
                <a:ea typeface="Urbanist Light"/>
                <a:cs typeface="Urbanist Light"/>
                <a:sym typeface="Urbanist Light"/>
              </a:rPr>
              <a:t>When expectations are unclear</a:t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2800">
                <a:latin typeface="Urbanist Light"/>
                <a:ea typeface="Urbanist Light"/>
                <a:cs typeface="Urbanist Light"/>
                <a:sym typeface="Urbanist Light"/>
              </a:rPr>
              <a:t>When access breaks down</a:t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111" name="Google Shape;111;g3d6396c8ac8_0_12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Workplace Communication</a:t>
            </a:r>
            <a:endParaRPr b="0" i="0" sz="48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6396c8ac8_0_18"/>
          <p:cNvSpPr txBox="1"/>
          <p:nvPr>
            <p:ph idx="2" type="body"/>
          </p:nvPr>
        </p:nvSpPr>
        <p:spPr>
          <a:xfrm>
            <a:off x="280075" y="2096375"/>
            <a:ext cx="11149800" cy="43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Your resume, cover letter, and professional emails are your first workplace communication.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They show: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4191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Professional tone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4191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Clarity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4191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Organization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4191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Attention to detail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4191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How you represent yourself as a professional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118" name="Google Shape;118;g3d6396c8ac8_0_18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36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1: Workplace Communication Starts Before You’re Hired</a:t>
            </a:r>
            <a:endParaRPr b="0" i="0" sz="36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6396c8ac8_0_24"/>
          <p:cNvSpPr txBox="1"/>
          <p:nvPr>
            <p:ph idx="2" type="body"/>
          </p:nvPr>
        </p:nvSpPr>
        <p:spPr>
          <a:xfrm>
            <a:off x="280075" y="2096375"/>
            <a:ext cx="11149800" cy="3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Even before accommodations or interviews, employers are already judging: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4572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How clearly you communicate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How prepared you seem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How you present yourself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125" name="Google Shape;125;g3d6396c8ac8_0_24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36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1: Workplace Communication Starts Before You’re Hired</a:t>
            </a:r>
            <a:endParaRPr b="0" i="0" sz="36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6396c8ac8_0_30"/>
          <p:cNvSpPr txBox="1"/>
          <p:nvPr>
            <p:ph idx="2" type="body"/>
          </p:nvPr>
        </p:nvSpPr>
        <p:spPr>
          <a:xfrm>
            <a:off x="280075" y="2096375"/>
            <a:ext cx="11149800" cy="3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What strengths do your job search materials communicate?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What might an employer misunderstand about you if communication is unclear?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132" name="Google Shape;132;g3d6396c8ac8_0_30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Reflection</a:t>
            </a:r>
            <a:endParaRPr b="0" i="0" sz="48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6396c8ac8_0_36"/>
          <p:cNvSpPr txBox="1"/>
          <p:nvPr>
            <p:ph idx="2" type="body"/>
          </p:nvPr>
        </p:nvSpPr>
        <p:spPr>
          <a:xfrm>
            <a:off x="280075" y="2096375"/>
            <a:ext cx="11149800" cy="3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Not all workplaces communicate the same way.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Tall vs. Flat Structures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○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Tall organizations → more formal, hierarchical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○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Flat organizations → more informal, collaborative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139" name="Google Shape;139;g3d6396c8ac8_0_36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36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2: Understanding the Workplace You’re Entering</a:t>
            </a:r>
            <a:endParaRPr b="0" i="0" sz="36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6396c8ac8_0_42"/>
          <p:cNvSpPr txBox="1"/>
          <p:nvPr>
            <p:ph idx="2" type="body"/>
          </p:nvPr>
        </p:nvSpPr>
        <p:spPr>
          <a:xfrm>
            <a:off x="280075" y="1847700"/>
            <a:ext cx="11422800" cy="4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Why This Matters for Deaf Employees: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937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600"/>
              <a:buFont typeface="Urbanist Light"/>
              <a:buChar char="➢"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Communication expectations change based on managerial style.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Examples: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Urbanist Light"/>
              <a:buAutoNum type="arabicPeriod"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Autocratic / Transactional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937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Urbanist Light"/>
              <a:buChar char="●"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Clear rules, top‑down decisions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Helpful strategy: written instructions, summaries, documentation</a:t>
            </a:r>
            <a:endParaRPr sz="38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146" name="Google Shape;146;g3d6396c8ac8_0_42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36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2: Understanding the Workplace You’re Entering</a:t>
            </a:r>
            <a:endParaRPr b="0" i="0" sz="36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6396c8ac8_0_48"/>
          <p:cNvSpPr txBox="1"/>
          <p:nvPr>
            <p:ph idx="2" type="body"/>
          </p:nvPr>
        </p:nvSpPr>
        <p:spPr>
          <a:xfrm>
            <a:off x="280075" y="1563375"/>
            <a:ext cx="11411400" cy="49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Examples: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Urbanist Light"/>
              <a:buAutoNum type="arabicPeriod" startAt="2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Bureaucratic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Formal processes and compliance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Helpful strategy: formal accommodation requests, record‑keeping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Urbanist Light"/>
              <a:buAutoNum type="arabicPeriod" startAt="2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Democratic / Transformational / Coaching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Collaboration, feedback, vision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Helpful strategy: turn‑taking, follow‑up emails, clarification questions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✳ </a:t>
            </a:r>
            <a:r>
              <a:rPr i="1" lang="en-US" sz="3000">
                <a:latin typeface="Urbanist Medium"/>
                <a:ea typeface="Urbanist Medium"/>
                <a:cs typeface="Urbanist Medium"/>
                <a:sym typeface="Urbanist Medium"/>
              </a:rPr>
              <a:t>Adjust how you communicate without changing who you are.</a:t>
            </a: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✳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153" name="Google Shape;153;g3d6396c8ac8_0_48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36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2: Understanding the Workplace You’re Entering</a:t>
            </a:r>
            <a:endParaRPr b="0" i="0" sz="36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6396c8ac8_0_60"/>
          <p:cNvSpPr txBox="1"/>
          <p:nvPr>
            <p:ph idx="2" type="body"/>
          </p:nvPr>
        </p:nvSpPr>
        <p:spPr>
          <a:xfrm>
            <a:off x="280075" y="2096375"/>
            <a:ext cx="11149800" cy="30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Which managerial style do you think would be hardest for Deaf employees?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Which style might support communication best?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What strategies could help in a challenging style?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160" name="Google Shape;160;g3d6396c8ac8_0_60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Reflection</a:t>
            </a:r>
            <a:endParaRPr b="0" i="0" sz="48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6396c8ac8_0_66"/>
          <p:cNvSpPr txBox="1"/>
          <p:nvPr>
            <p:ph idx="2" type="body"/>
          </p:nvPr>
        </p:nvSpPr>
        <p:spPr>
          <a:xfrm>
            <a:off x="280075" y="1563375"/>
            <a:ext cx="11411400" cy="49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Goals are not just personal—they are organizational communication.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Why SMART Goals Matter at Work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SMART goals help to: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Clarify expectations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Reduce misunderstandings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Make performance measurable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200">
                <a:latin typeface="Urbanist Light"/>
                <a:ea typeface="Urbanist Light"/>
                <a:cs typeface="Urbanist Light"/>
                <a:sym typeface="Urbanist Light"/>
              </a:rPr>
              <a:t>Support feedback conversations</a:t>
            </a:r>
            <a:endParaRPr sz="3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167" name="Google Shape;167;g3d6396c8ac8_0_66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36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3: Goals as Communication</a:t>
            </a:r>
            <a:endParaRPr b="0" i="0" sz="36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6396c8ac8_0_72"/>
          <p:cNvSpPr txBox="1"/>
          <p:nvPr>
            <p:ph idx="2" type="body"/>
          </p:nvPr>
        </p:nvSpPr>
        <p:spPr>
          <a:xfrm>
            <a:off x="280075" y="1839450"/>
            <a:ext cx="11411400" cy="3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Workplace Examples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Performance goals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Training goals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Accommodation follow‑ups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Team projects</a:t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174" name="Google Shape;174;g3d6396c8ac8_0_72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36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3: Goals as Communication</a:t>
            </a:r>
            <a:endParaRPr b="0" i="0" sz="36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6396c8ac8_0_78"/>
          <p:cNvSpPr txBox="1"/>
          <p:nvPr>
            <p:ph idx="2" type="body"/>
          </p:nvPr>
        </p:nvSpPr>
        <p:spPr>
          <a:xfrm>
            <a:off x="280075" y="1839450"/>
            <a:ext cx="11411400" cy="3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Connection to Deaf Employees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SMART goals help: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Make expectations visible (not assumed)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Support documentation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Reduce vague feedback like “Do better communication”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181" name="Google Shape;181;g3d6396c8ac8_0_78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36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3: Goals as Communication</a:t>
            </a:r>
            <a:endParaRPr b="0" i="0" sz="36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6396c8ac8_0_84"/>
          <p:cNvSpPr txBox="1"/>
          <p:nvPr>
            <p:ph idx="2" type="body"/>
          </p:nvPr>
        </p:nvSpPr>
        <p:spPr>
          <a:xfrm>
            <a:off x="280075" y="2096375"/>
            <a:ext cx="11149800" cy="30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Turn this into a SMART goal:  “I want better communication at work.”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(Rewrite using </a:t>
            </a:r>
            <a:r>
              <a:rPr b="1" i="1" lang="en-US" sz="3600">
                <a:latin typeface="Urbanist"/>
                <a:ea typeface="Urbanist"/>
                <a:cs typeface="Urbanist"/>
                <a:sym typeface="Urbanist"/>
              </a:rPr>
              <a:t>S</a:t>
            </a:r>
            <a:r>
              <a:rPr i="1" lang="en-US" sz="3600">
                <a:latin typeface="Urbanist Medium"/>
                <a:ea typeface="Urbanist Medium"/>
                <a:cs typeface="Urbanist Medium"/>
                <a:sym typeface="Urbanist Medium"/>
              </a:rPr>
              <a:t>pecific, </a:t>
            </a:r>
            <a:r>
              <a:rPr b="1" i="1" lang="en-US" sz="3600">
                <a:latin typeface="Urbanist"/>
                <a:ea typeface="Urbanist"/>
                <a:cs typeface="Urbanist"/>
                <a:sym typeface="Urbanist"/>
              </a:rPr>
              <a:t>M</a:t>
            </a:r>
            <a:r>
              <a:rPr i="1" lang="en-US" sz="3600">
                <a:latin typeface="Urbanist Medium"/>
                <a:ea typeface="Urbanist Medium"/>
                <a:cs typeface="Urbanist Medium"/>
                <a:sym typeface="Urbanist Medium"/>
              </a:rPr>
              <a:t>easurable, </a:t>
            </a:r>
            <a:r>
              <a:rPr b="1" i="1" lang="en-US" sz="3600">
                <a:latin typeface="Urbanist"/>
                <a:ea typeface="Urbanist"/>
                <a:cs typeface="Urbanist"/>
                <a:sym typeface="Urbanist"/>
              </a:rPr>
              <a:t>A</a:t>
            </a:r>
            <a:r>
              <a:rPr i="1" lang="en-US" sz="3600">
                <a:latin typeface="Urbanist Medium"/>
                <a:ea typeface="Urbanist Medium"/>
                <a:cs typeface="Urbanist Medium"/>
                <a:sym typeface="Urbanist Medium"/>
              </a:rPr>
              <a:t>chievable, </a:t>
            </a:r>
            <a:r>
              <a:rPr b="1" i="1" lang="en-US" sz="3600">
                <a:latin typeface="Urbanist"/>
                <a:ea typeface="Urbanist"/>
                <a:cs typeface="Urbanist"/>
                <a:sym typeface="Urbanist"/>
              </a:rPr>
              <a:t>R</a:t>
            </a:r>
            <a:r>
              <a:rPr i="1" lang="en-US" sz="3600">
                <a:latin typeface="Urbanist Medium"/>
                <a:ea typeface="Urbanist Medium"/>
                <a:cs typeface="Urbanist Medium"/>
                <a:sym typeface="Urbanist Medium"/>
              </a:rPr>
              <a:t>elevant, </a:t>
            </a:r>
            <a:r>
              <a:rPr b="1" i="1" lang="en-US" sz="3600">
                <a:latin typeface="Urbanist"/>
                <a:ea typeface="Urbanist"/>
                <a:cs typeface="Urbanist"/>
                <a:sym typeface="Urbanist"/>
              </a:rPr>
              <a:t>T</a:t>
            </a:r>
            <a:r>
              <a:rPr i="1" lang="en-US" sz="3600">
                <a:latin typeface="Urbanist Medium"/>
                <a:ea typeface="Urbanist Medium"/>
                <a:cs typeface="Urbanist Medium"/>
                <a:sym typeface="Urbanist Medium"/>
              </a:rPr>
              <a:t>ime‑bound</a:t>
            </a: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)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188" name="Google Shape;188;g3d6396c8ac8_0_84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Reflection</a:t>
            </a:r>
            <a:endParaRPr b="0" i="0" sz="48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6396c8ac8_0_90"/>
          <p:cNvSpPr txBox="1"/>
          <p:nvPr>
            <p:ph idx="2" type="body"/>
          </p:nvPr>
        </p:nvSpPr>
        <p:spPr>
          <a:xfrm>
            <a:off x="280075" y="1839450"/>
            <a:ext cx="11411400" cy="3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ADA is not separate from communication—it depends on it.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Important Reminders: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ADA applies only if you are qualified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Accommodations support essential duties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You often must communicate your needs clearly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195" name="Google Shape;195;g3d6396c8ac8_0_90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36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4: Knowing Your Rights Is Part of Communication</a:t>
            </a:r>
            <a:endParaRPr b="0" i="0" sz="36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6396c8ac8_0_96"/>
          <p:cNvSpPr txBox="1"/>
          <p:nvPr>
            <p:ph idx="2" type="body"/>
          </p:nvPr>
        </p:nvSpPr>
        <p:spPr>
          <a:xfrm>
            <a:off x="280075" y="2055550"/>
            <a:ext cx="11411400" cy="44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Workplace Communication Skills Here Include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Explaining access needs professionally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Communicating with HR and supervisors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Documenting issues clearly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Following up in writing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✳ </a:t>
            </a:r>
            <a:r>
              <a:rPr i="1" lang="en-US" sz="3600">
                <a:latin typeface="Urbanist"/>
                <a:ea typeface="Urbanist"/>
                <a:cs typeface="Urbanist"/>
                <a:sym typeface="Urbanist"/>
              </a:rPr>
              <a:t>Knowing your rights is important.</a:t>
            </a:r>
            <a:endParaRPr i="1" sz="3600"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latin typeface="Urbanist"/>
                <a:ea typeface="Urbanist"/>
                <a:cs typeface="Urbanist"/>
                <a:sym typeface="Urbanist"/>
              </a:rPr>
              <a:t>Communicating your rights effectively is essential. </a:t>
            </a: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✳</a:t>
            </a:r>
            <a:endParaRPr i="1" sz="3600"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202" name="Google Shape;202;g3d6396c8ac8_0_96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36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4: Knowing Your Rights Is Part of Communication</a:t>
            </a:r>
            <a:endParaRPr b="0" i="0" sz="36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6396c8ac8_0_102"/>
          <p:cNvSpPr txBox="1"/>
          <p:nvPr>
            <p:ph idx="2" type="body"/>
          </p:nvPr>
        </p:nvSpPr>
        <p:spPr>
          <a:xfrm>
            <a:off x="280075" y="2055550"/>
            <a:ext cx="11411400" cy="44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Workplace conflict </a:t>
            </a:r>
            <a:r>
              <a:rPr lang="en-US" sz="3600">
                <a:latin typeface="Urbanist SemiBold"/>
                <a:ea typeface="Urbanist SemiBold"/>
                <a:cs typeface="Urbanist SemiBold"/>
                <a:sym typeface="Urbanist SemiBold"/>
              </a:rPr>
              <a:t>will</a:t>
            </a: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 happen: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Access problems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Misunderstandings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Power differences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Feedback issues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✳ </a:t>
            </a:r>
            <a:r>
              <a:rPr i="1" lang="en-US" sz="3600">
                <a:latin typeface="Urbanist Medium"/>
                <a:ea typeface="Urbanist Medium"/>
                <a:cs typeface="Urbanist Medium"/>
                <a:sym typeface="Urbanist Medium"/>
              </a:rPr>
              <a:t>The goal is not to avoid conflict, but to handle it professionally. </a:t>
            </a: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✳</a:t>
            </a:r>
            <a:endParaRPr i="1" sz="3600"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209" name="Google Shape;209;g3d6396c8ac8_0_102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5: Conflict Is a Communication Skill</a:t>
            </a:r>
            <a:endParaRPr b="0" i="0" sz="48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6396c8ac8_0_108"/>
          <p:cNvSpPr txBox="1"/>
          <p:nvPr>
            <p:ph idx="2" type="body"/>
          </p:nvPr>
        </p:nvSpPr>
        <p:spPr>
          <a:xfrm>
            <a:off x="280075" y="2055550"/>
            <a:ext cx="11411400" cy="44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TKI Reminder: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Your style (</a:t>
            </a:r>
            <a:r>
              <a:rPr i="1" lang="en-US" sz="3600">
                <a:latin typeface="Urbanist Light"/>
                <a:ea typeface="Urbanist Light"/>
                <a:cs typeface="Urbanist Light"/>
                <a:sym typeface="Urbanist Light"/>
              </a:rPr>
              <a:t>Turtle, Bear, Fox, Owl, Shark</a:t>
            </a: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) affects: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How you speak up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How you handle feedback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How others perceive your communication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216" name="Google Shape;216;g3d6396c8ac8_0_108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5: Conflict Is a Communication Skill</a:t>
            </a:r>
            <a:endParaRPr b="0" i="0" sz="48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6396c8ac8_0_114"/>
          <p:cNvSpPr txBox="1"/>
          <p:nvPr>
            <p:ph idx="2" type="body"/>
          </p:nvPr>
        </p:nvSpPr>
        <p:spPr>
          <a:xfrm>
            <a:off x="280075" y="2055550"/>
            <a:ext cx="11411400" cy="44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Strong workplace communication often looks like: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Neutral language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Planned conversations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Offering solutions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Follow‑up emails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Willingness to compromise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223" name="Google Shape;223;g3d6396c8ac8_0_114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5: Conflict Is a Communication Skill</a:t>
            </a:r>
            <a:endParaRPr b="0" i="0" sz="48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6396c8ac8_0_120"/>
          <p:cNvSpPr txBox="1"/>
          <p:nvPr>
            <p:ph idx="2" type="body"/>
          </p:nvPr>
        </p:nvSpPr>
        <p:spPr>
          <a:xfrm>
            <a:off x="280075" y="2096375"/>
            <a:ext cx="11331900" cy="40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Scenario: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You are a Deaf employee on a team with a transactional manager.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Meetings move fast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Feedback is short and performance‑driven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Captions are inconsistent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230" name="Google Shape;230;g3d6396c8ac8_0_120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Application</a:t>
            </a:r>
            <a:endParaRPr b="0" i="0" sz="48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396c8ac8_0_126"/>
          <p:cNvSpPr txBox="1"/>
          <p:nvPr>
            <p:ph idx="2" type="body"/>
          </p:nvPr>
        </p:nvSpPr>
        <p:spPr>
          <a:xfrm>
            <a:off x="280075" y="2408125"/>
            <a:ext cx="11411400" cy="3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So far, we have talked a lot about: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Rights (ADA)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Structures (organizations and managers)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Skills (conflict resolution, goal setting, professional writing)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237" name="Google Shape;237;g3d6396c8ac8_0_126"/>
          <p:cNvSpPr txBox="1"/>
          <p:nvPr>
            <p:ph type="title"/>
          </p:nvPr>
        </p:nvSpPr>
        <p:spPr>
          <a:xfrm>
            <a:off x="280075" y="625875"/>
            <a:ext cx="115608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3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6: Interpersonal &amp; Small‑Group Communication in Today’s Workplace</a:t>
            </a:r>
            <a:endParaRPr b="0" i="0" sz="43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6396c8ac8_0_132"/>
          <p:cNvSpPr txBox="1"/>
          <p:nvPr>
            <p:ph idx="2" type="body"/>
          </p:nvPr>
        </p:nvSpPr>
        <p:spPr>
          <a:xfrm>
            <a:off x="280075" y="2408125"/>
            <a:ext cx="11411400" cy="3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Now we zoom in closer—to everyday communication: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One‑on‑one conversations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Small group discussions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Informal moments that shape inclusion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latin typeface="Urbanist Medium"/>
                <a:ea typeface="Urbanist Medium"/>
                <a:cs typeface="Urbanist Medium"/>
                <a:sym typeface="Urbanist Medium"/>
              </a:rPr>
              <a:t>This is where workplace communication succeeds or breaks down.</a:t>
            </a:r>
            <a:endParaRPr i="1" sz="3600"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44" name="Google Shape;244;g3d6396c8ac8_0_132"/>
          <p:cNvSpPr txBox="1"/>
          <p:nvPr>
            <p:ph type="title"/>
          </p:nvPr>
        </p:nvSpPr>
        <p:spPr>
          <a:xfrm>
            <a:off x="280075" y="625875"/>
            <a:ext cx="115608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3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6: Interpersonal &amp; Small‑Group Communication in Today’s Workplace</a:t>
            </a:r>
            <a:endParaRPr b="0" i="0" sz="43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6396c8ac8_0_138"/>
          <p:cNvSpPr txBox="1"/>
          <p:nvPr>
            <p:ph idx="2" type="body"/>
          </p:nvPr>
        </p:nvSpPr>
        <p:spPr>
          <a:xfrm>
            <a:off x="280075" y="1987325"/>
            <a:ext cx="11411400" cy="4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Common aspects of modern workplaces: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683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Urbanist Light"/>
              <a:buChar char="●"/>
            </a:pPr>
            <a:r>
              <a:rPr lang="en-US" sz="3400">
                <a:latin typeface="Urbanist Light"/>
                <a:ea typeface="Urbanist Light"/>
                <a:cs typeface="Urbanist Light"/>
                <a:sym typeface="Urbanist Light"/>
              </a:rPr>
              <a:t>Teams may include people from different countries, cultures, and first languages.</a:t>
            </a:r>
            <a:endParaRPr sz="3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683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Urbanist Light"/>
              <a:buChar char="●"/>
            </a:pPr>
            <a:r>
              <a:rPr lang="en-US" sz="3400">
                <a:latin typeface="Urbanist Light"/>
                <a:ea typeface="Urbanist Light"/>
                <a:cs typeface="Urbanist Light"/>
                <a:sym typeface="Urbanist Light"/>
              </a:rPr>
              <a:t>Technology‑driven</a:t>
            </a:r>
            <a:endParaRPr sz="3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683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Urbanist Light"/>
              <a:buChar char="●"/>
            </a:pPr>
            <a:r>
              <a:rPr lang="en-US" sz="3400">
                <a:latin typeface="Urbanist Light"/>
                <a:ea typeface="Urbanist Light"/>
                <a:cs typeface="Urbanist Light"/>
                <a:sym typeface="Urbanist Light"/>
              </a:rPr>
              <a:t>Zoom, Teams, Slack, email, shared documents—not just face‑to‑face.</a:t>
            </a:r>
            <a:endParaRPr sz="3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683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Urbanist Light"/>
              <a:buChar char="●"/>
            </a:pPr>
            <a:r>
              <a:rPr lang="en-US" sz="3400">
                <a:latin typeface="Urbanist Light"/>
                <a:ea typeface="Urbanist Light"/>
                <a:cs typeface="Urbanist Light"/>
                <a:sym typeface="Urbanist Light"/>
              </a:rPr>
              <a:t>Collaboration‑focused</a:t>
            </a:r>
            <a:endParaRPr sz="3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683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Urbanist Light"/>
              <a:buChar char="●"/>
            </a:pPr>
            <a:r>
              <a:rPr lang="en-US" sz="3400">
                <a:latin typeface="Urbanist Light"/>
                <a:ea typeface="Urbanist Light"/>
                <a:cs typeface="Urbanist Light"/>
                <a:sym typeface="Urbanist Light"/>
              </a:rPr>
              <a:t>Decisions are often made in teams, not individually.</a:t>
            </a:r>
            <a:endParaRPr sz="3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251" name="Google Shape;251;g3d6396c8ac8_0_138"/>
          <p:cNvSpPr txBox="1"/>
          <p:nvPr>
            <p:ph type="title"/>
          </p:nvPr>
        </p:nvSpPr>
        <p:spPr>
          <a:xfrm>
            <a:off x="280075" y="625875"/>
            <a:ext cx="115608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3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6: Interpersonal &amp; Small‑Group Communication in Today’s Workplace</a:t>
            </a:r>
            <a:endParaRPr b="0" i="0" sz="43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6396c8ac8_0_144"/>
          <p:cNvSpPr txBox="1"/>
          <p:nvPr>
            <p:ph idx="2" type="body"/>
          </p:nvPr>
        </p:nvSpPr>
        <p:spPr>
          <a:xfrm>
            <a:off x="280075" y="2408125"/>
            <a:ext cx="11411400" cy="40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Interpersonal Communication at Work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Interpersonal communication is one‑to‑one interaction: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With a coworker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With a supervisor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With HR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With a client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258" name="Google Shape;258;g3d6396c8ac8_0_144"/>
          <p:cNvSpPr txBox="1"/>
          <p:nvPr>
            <p:ph type="title"/>
          </p:nvPr>
        </p:nvSpPr>
        <p:spPr>
          <a:xfrm>
            <a:off x="280075" y="625875"/>
            <a:ext cx="115608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3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6: Interpersonal &amp; Small‑Group Communication in Today’s Workplace</a:t>
            </a:r>
            <a:endParaRPr b="0" i="0" sz="43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6396c8ac8_0_150"/>
          <p:cNvSpPr txBox="1"/>
          <p:nvPr>
            <p:ph idx="2" type="body"/>
          </p:nvPr>
        </p:nvSpPr>
        <p:spPr>
          <a:xfrm>
            <a:off x="280075" y="2408125"/>
            <a:ext cx="11411400" cy="40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Common Challenges for Deaf Professionals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Missing informal exchanges (hallway talk, lunch conversations)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Tone or intention lost in email or chat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Colleagues unaware of Deaf communication needs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Assumptions that “everything important is in the meeting”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265" name="Google Shape;265;g3d6396c8ac8_0_150"/>
          <p:cNvSpPr txBox="1"/>
          <p:nvPr>
            <p:ph type="title"/>
          </p:nvPr>
        </p:nvSpPr>
        <p:spPr>
          <a:xfrm>
            <a:off x="280075" y="625875"/>
            <a:ext cx="115608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3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6: Interpersonal &amp; Small‑Group Communication in Today’s Workplace</a:t>
            </a:r>
            <a:endParaRPr b="0" i="0" sz="43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6396c8ac8_0_156"/>
          <p:cNvSpPr txBox="1"/>
          <p:nvPr>
            <p:ph idx="2" type="body"/>
          </p:nvPr>
        </p:nvSpPr>
        <p:spPr>
          <a:xfrm>
            <a:off x="280075" y="2408125"/>
            <a:ext cx="11411400" cy="25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These moments matter because: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Relationships are often built in small, informal interactions—not just formal meetings.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272" name="Google Shape;272;g3d6396c8ac8_0_156"/>
          <p:cNvSpPr txBox="1"/>
          <p:nvPr>
            <p:ph type="title"/>
          </p:nvPr>
        </p:nvSpPr>
        <p:spPr>
          <a:xfrm>
            <a:off x="280075" y="625875"/>
            <a:ext cx="115608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3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6: Interpersonal &amp; Small‑Group Communication in Today’s Workplace</a:t>
            </a:r>
            <a:endParaRPr b="0" i="0" sz="43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6396c8ac8_0_162"/>
          <p:cNvSpPr txBox="1"/>
          <p:nvPr>
            <p:ph idx="2" type="body"/>
          </p:nvPr>
        </p:nvSpPr>
        <p:spPr>
          <a:xfrm>
            <a:off x="280075" y="2032825"/>
            <a:ext cx="11411400" cy="4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As a Deaf professional, effective communication may include: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Proactively sharing your access needs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“I’m Deaf and use captions or an interpreter. Please let me know meeting plans in advance.”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Asking for clarification without apology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“Can you summarize that in writing so I’m sure I understood?”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Building allies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Colleagues who help loop you in if something is missed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Using follow‑up messages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Emails or chats to confirm key points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279" name="Google Shape;279;g3d6396c8ac8_0_162"/>
          <p:cNvSpPr txBox="1"/>
          <p:nvPr>
            <p:ph type="title"/>
          </p:nvPr>
        </p:nvSpPr>
        <p:spPr>
          <a:xfrm>
            <a:off x="280075" y="625875"/>
            <a:ext cx="115608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3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6: Interpersonal &amp; Small‑Group Communication in Today’s Workplace</a:t>
            </a:r>
            <a:endParaRPr b="0" i="0" sz="43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6396c8ac8_0_168"/>
          <p:cNvSpPr txBox="1"/>
          <p:nvPr>
            <p:ph idx="2" type="body"/>
          </p:nvPr>
        </p:nvSpPr>
        <p:spPr>
          <a:xfrm>
            <a:off x="280075" y="2032825"/>
            <a:ext cx="11411400" cy="4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Small‑Group Communication: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Small groups include: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Team meetings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Project groups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Brainstorming sessions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Committee work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These are major communication spaces in most organizations.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286" name="Google Shape;286;g3d6396c8ac8_0_168"/>
          <p:cNvSpPr txBox="1"/>
          <p:nvPr>
            <p:ph type="title"/>
          </p:nvPr>
        </p:nvSpPr>
        <p:spPr>
          <a:xfrm>
            <a:off x="280075" y="625875"/>
            <a:ext cx="115608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3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6: Interpersonal &amp; Small‑Group Communication in Today’s Workplace</a:t>
            </a:r>
            <a:endParaRPr b="0" i="0" sz="43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6396c8ac8_0_174"/>
          <p:cNvSpPr txBox="1"/>
          <p:nvPr>
            <p:ph idx="2" type="body"/>
          </p:nvPr>
        </p:nvSpPr>
        <p:spPr>
          <a:xfrm>
            <a:off x="280075" y="2032825"/>
            <a:ext cx="11411400" cy="4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Common Barriers in Small Groups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People speaking over each other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Fast turn‑taking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Interpreters or captions lagging behind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Decisions happening “in the room” but not documented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This can affect: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Participation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Perception of confidence or competence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Opportunities to lead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293" name="Google Shape;293;g3d6396c8ac8_0_174"/>
          <p:cNvSpPr txBox="1"/>
          <p:nvPr>
            <p:ph type="title"/>
          </p:nvPr>
        </p:nvSpPr>
        <p:spPr>
          <a:xfrm>
            <a:off x="280075" y="625875"/>
            <a:ext cx="115608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3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6: Interpersonal &amp; Small‑Group Communication in Today’s Workplace</a:t>
            </a:r>
            <a:endParaRPr b="0" i="0" sz="43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6396c8ac8_0_180"/>
          <p:cNvSpPr txBox="1"/>
          <p:nvPr>
            <p:ph idx="2" type="body"/>
          </p:nvPr>
        </p:nvSpPr>
        <p:spPr>
          <a:xfrm>
            <a:off x="280075" y="2032825"/>
            <a:ext cx="11411400" cy="4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Effective Small‑Group Communication Strategies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Suggesting structured turn‑taking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○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“Can we go one at a time so everyone can follow?”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Asking for visual agendas or notes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Requesting written summaries of decisions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Using follow‑up email as a communication equalizer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US" sz="3000">
                <a:latin typeface="Urbanist Medium"/>
                <a:ea typeface="Urbanist Medium"/>
                <a:cs typeface="Urbanist Medium"/>
                <a:sym typeface="Urbanist Medium"/>
              </a:rPr>
              <a:t>These strategies help not only Deaf employees—but everyone.</a:t>
            </a:r>
            <a:endParaRPr i="1" sz="3000"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300" name="Google Shape;300;g3d6396c8ac8_0_180"/>
          <p:cNvSpPr txBox="1"/>
          <p:nvPr>
            <p:ph type="title"/>
          </p:nvPr>
        </p:nvSpPr>
        <p:spPr>
          <a:xfrm>
            <a:off x="280075" y="625875"/>
            <a:ext cx="115608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3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6: Interpersonal &amp; Small‑Group Communication in Today’s Workplace</a:t>
            </a:r>
            <a:endParaRPr b="0" i="0" sz="43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6396c8ac8_0_186"/>
          <p:cNvSpPr txBox="1"/>
          <p:nvPr>
            <p:ph idx="2" type="body"/>
          </p:nvPr>
        </p:nvSpPr>
        <p:spPr>
          <a:xfrm>
            <a:off x="280075" y="2032825"/>
            <a:ext cx="11411400" cy="4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Technology‑Mediated Communication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Technology is now a core workplace communication skill.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Important Skills Include: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Knowing how to enable captions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Requesting interpreters for virtual meetings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Asking hosts to spotlight interpreters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Using chat strategically to ask questions or clarify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US" sz="3000">
                <a:latin typeface="Urbanist Medium"/>
                <a:ea typeface="Urbanist Medium"/>
                <a:cs typeface="Urbanist Medium"/>
                <a:sym typeface="Urbanist Medium"/>
              </a:rPr>
              <a:t>Access is strongest when technology + communication strategy work together.</a:t>
            </a:r>
            <a:endParaRPr i="1" sz="3000"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307" name="Google Shape;307;g3d6396c8ac8_0_186"/>
          <p:cNvSpPr txBox="1"/>
          <p:nvPr>
            <p:ph type="title"/>
          </p:nvPr>
        </p:nvSpPr>
        <p:spPr>
          <a:xfrm>
            <a:off x="280075" y="625875"/>
            <a:ext cx="115608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3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6: Interpersonal &amp; Small‑Group Communication in Today’s Workplace</a:t>
            </a:r>
            <a:endParaRPr b="0" i="0" sz="43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6396c8ac8_0_192"/>
          <p:cNvSpPr txBox="1"/>
          <p:nvPr>
            <p:ph idx="2" type="body"/>
          </p:nvPr>
        </p:nvSpPr>
        <p:spPr>
          <a:xfrm>
            <a:off x="280075" y="2032825"/>
            <a:ext cx="11411400" cy="4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Global &amp; Cross‑Cultural Communication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Many Deaf professionals will work with: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International teams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Colleagues unfamiliar with Deaf culture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Employers outside the U.S. or unfamiliar with ADA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This requires: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Clear but brief explanations of access needs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Patience without self‑silencing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Confidence in self‑advocacy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314" name="Google Shape;314;g3d6396c8ac8_0_192"/>
          <p:cNvSpPr txBox="1"/>
          <p:nvPr>
            <p:ph type="title"/>
          </p:nvPr>
        </p:nvSpPr>
        <p:spPr>
          <a:xfrm>
            <a:off x="280075" y="625875"/>
            <a:ext cx="115608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3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6: Interpersonal &amp; Small‑Group Communication in Today’s Workplace</a:t>
            </a:r>
            <a:endParaRPr b="0" i="0" sz="43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6396c8ac8_0_198"/>
          <p:cNvSpPr txBox="1"/>
          <p:nvPr>
            <p:ph idx="2" type="body"/>
          </p:nvPr>
        </p:nvSpPr>
        <p:spPr>
          <a:xfrm>
            <a:off x="280075" y="2364450"/>
            <a:ext cx="11411400" cy="33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3600">
                <a:solidFill>
                  <a:srgbClr val="FC6800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✳</a:t>
            </a: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You are not “asking for special treatment.” You are ensuring effective communication.</a:t>
            </a:r>
            <a:r>
              <a:rPr lang="en-US" sz="3600">
                <a:solidFill>
                  <a:srgbClr val="FC6800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✳</a:t>
            </a:r>
            <a:endParaRPr sz="3600">
              <a:solidFill>
                <a:srgbClr val="FC6800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321" name="Google Shape;321;g3d6396c8ac8_0_198"/>
          <p:cNvSpPr txBox="1"/>
          <p:nvPr>
            <p:ph type="title"/>
          </p:nvPr>
        </p:nvSpPr>
        <p:spPr>
          <a:xfrm>
            <a:off x="280075" y="625875"/>
            <a:ext cx="115608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3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6: Interpersonal &amp; Small‑Group Communication in Today’s Workplace</a:t>
            </a:r>
            <a:endParaRPr b="0" i="0" sz="43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6396c8ac8_0_204"/>
          <p:cNvSpPr txBox="1"/>
          <p:nvPr>
            <p:ph idx="2" type="body"/>
          </p:nvPr>
        </p:nvSpPr>
        <p:spPr>
          <a:xfrm>
            <a:off x="280075" y="2096375"/>
            <a:ext cx="11149800" cy="30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Font typeface="Urbanist Light"/>
              <a:buAutoNum type="arabicPeriod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Which interpersonal or small‑group situation feels hardest for you?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Font typeface="Urbanist Light"/>
              <a:buAutoNum type="arabicPeriod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What strategy from today’s lesson would help most?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Font typeface="Urbanist Light"/>
              <a:buAutoNum type="arabicPeriod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How does this connect to ADA, managerial style, or conflict resolution?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328" name="Google Shape;328;g3d6396c8ac8_0_204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Reflection</a:t>
            </a:r>
            <a:endParaRPr b="0" i="0" sz="48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6396c8ac8_0_210"/>
          <p:cNvSpPr txBox="1"/>
          <p:nvPr>
            <p:ph idx="2" type="body"/>
          </p:nvPr>
        </p:nvSpPr>
        <p:spPr>
          <a:xfrm>
            <a:off x="280075" y="2084300"/>
            <a:ext cx="11411400" cy="41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Workplace communication is not just: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3600"/>
              <a:buFont typeface="Urbanist Light"/>
              <a:buChar char="➢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“How well do others communicate with me?”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It is also: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3600"/>
              <a:buFont typeface="Urbanist Light"/>
              <a:buChar char="➢"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“How effectively do I navigate systems, people, and communication environments?”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335" name="Google Shape;335;g3d6396c8ac8_0_210"/>
          <p:cNvSpPr txBox="1"/>
          <p:nvPr>
            <p:ph type="title"/>
          </p:nvPr>
        </p:nvSpPr>
        <p:spPr>
          <a:xfrm>
            <a:off x="280075" y="625875"/>
            <a:ext cx="115608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Reframing Workplace Communication</a:t>
            </a:r>
            <a:endParaRPr b="0" i="0" sz="48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6396c8ac8_0_216"/>
          <p:cNvSpPr txBox="1"/>
          <p:nvPr>
            <p:ph idx="2" type="body"/>
          </p:nvPr>
        </p:nvSpPr>
        <p:spPr>
          <a:xfrm>
            <a:off x="280075" y="1815350"/>
            <a:ext cx="11411400" cy="4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The Workplace Communication Skill Set Includes: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Professional writing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Understanding organizational structure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Adjusting to managerial styles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Setting clear goals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Advocating for access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Managing conflict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Following up and documenting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Urbanist Light"/>
              <a:buChar char="●"/>
            </a:pPr>
            <a:r>
              <a:rPr lang="en-US" sz="3000">
                <a:latin typeface="Urbanist Light"/>
                <a:ea typeface="Urbanist Light"/>
                <a:cs typeface="Urbanist Light"/>
                <a:sym typeface="Urbanist Light"/>
              </a:rPr>
              <a:t>Taking responsibility for your role</a:t>
            </a:r>
            <a:endParaRPr sz="3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342" name="Google Shape;342;g3d6396c8ac8_0_216"/>
          <p:cNvSpPr txBox="1"/>
          <p:nvPr>
            <p:ph type="title"/>
          </p:nvPr>
        </p:nvSpPr>
        <p:spPr>
          <a:xfrm>
            <a:off x="280075" y="625875"/>
            <a:ext cx="115608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Part 7: Putting It All Together</a:t>
            </a:r>
            <a:endParaRPr b="0" i="0" sz="48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d6396c8ac8_0_222"/>
          <p:cNvSpPr txBox="1"/>
          <p:nvPr>
            <p:ph idx="2" type="body"/>
          </p:nvPr>
        </p:nvSpPr>
        <p:spPr>
          <a:xfrm>
            <a:off x="280075" y="2096375"/>
            <a:ext cx="11149800" cy="30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Complete this sentence: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“Effective workplace communication for me includes </a:t>
            </a:r>
            <a:r>
              <a:rPr lang="en-US" sz="3600"/>
              <a:t>______________</a:t>
            </a:r>
            <a:r>
              <a:rPr lang="en-US" sz="3600">
                <a:latin typeface="Urbanist Light"/>
                <a:ea typeface="Urbanist Light"/>
                <a:cs typeface="Urbanist Light"/>
                <a:sym typeface="Urbanist Light"/>
              </a:rPr>
              <a:t>.”</a:t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8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349" name="Google Shape;349;g3d6396c8ac8_0_222"/>
          <p:cNvSpPr txBox="1"/>
          <p:nvPr>
            <p:ph type="title"/>
          </p:nvPr>
        </p:nvSpPr>
        <p:spPr>
          <a:xfrm>
            <a:off x="280066" y="625875"/>
            <a:ext cx="11560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F2A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Final </a:t>
            </a:r>
            <a:r>
              <a:rPr lang="en-US" sz="4800">
                <a:solidFill>
                  <a:srgbClr val="EF6F2A"/>
                </a:solidFill>
                <a:latin typeface="Scope One"/>
                <a:ea typeface="Scope One"/>
                <a:cs typeface="Scope One"/>
                <a:sym typeface="Scope One"/>
              </a:rPr>
              <a:t>Reflection</a:t>
            </a:r>
            <a:endParaRPr b="0" i="0" sz="4800" u="none" cap="none" strike="noStrike">
              <a:solidFill>
                <a:srgbClr val="EF6F2A"/>
              </a:solidFill>
              <a:latin typeface="Scope One"/>
              <a:ea typeface="Scope One"/>
              <a:cs typeface="Scope One"/>
              <a:sym typeface="Scope One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4"/>
          <p:cNvSpPr/>
          <p:nvPr/>
        </p:nvSpPr>
        <p:spPr>
          <a:xfrm>
            <a:off x="800100" y="779317"/>
            <a:ext cx="10432473" cy="5502949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2026</a:t>
            </a:r>
            <a:endParaRPr b="0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Rochester Institute of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IT">
  <a:themeElements>
    <a:clrScheme name="RIT">
      <a:dk1>
        <a:srgbClr val="000000"/>
      </a:dk1>
      <a:lt1>
        <a:srgbClr val="FFFFFF"/>
      </a:lt1>
      <a:dk2>
        <a:srgbClr val="6F706F"/>
      </a:dk2>
      <a:lt2>
        <a:srgbClr val="E7E6E6"/>
      </a:lt2>
      <a:accent1>
        <a:srgbClr val="F66900"/>
      </a:accent1>
      <a:accent2>
        <a:srgbClr val="F6BD00"/>
      </a:accent2>
      <a:accent3>
        <a:srgbClr val="C4D500"/>
      </a:accent3>
      <a:accent4>
        <a:srgbClr val="009CBD"/>
      </a:accent4>
      <a:accent5>
        <a:srgbClr val="7D54C7"/>
      </a:accent5>
      <a:accent6>
        <a:srgbClr val="70AD47"/>
      </a:accent6>
      <a:hlink>
        <a:srgbClr val="D64900"/>
      </a:hlink>
      <a:folHlink>
        <a:srgbClr val="71747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2021-06-08T16:35:26Z</dcterms:created>
  <dc:creator>Isaac Coleman (Student Employee)</dc:creator>
</cp:coreProperties>
</file>